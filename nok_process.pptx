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4011" r:id="rId5"/>
  </p:sldMasterIdLst>
  <p:notesMasterIdLst>
    <p:notesMasterId r:id="rId7"/>
  </p:notesMasterIdLst>
  <p:handoutMasterIdLst>
    <p:handoutMasterId r:id="rId8"/>
  </p:handoutMasterIdLst>
  <p:sldIdLst>
    <p:sldId id="2147482499" r:id="rId6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21474824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FDB"/>
    <a:srgbClr val="FFE050"/>
    <a:srgbClr val="FFED5E"/>
    <a:srgbClr val="02ABB1"/>
    <a:srgbClr val="00666F"/>
    <a:srgbClr val="FCFCC2"/>
    <a:srgbClr val="AD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0426E-106F-47DF-9B44-A33464D77A06}" v="43" dt="2025-02-03T23:11:53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715" autoAdjust="0"/>
  </p:normalViewPr>
  <p:slideViewPr>
    <p:cSldViewPr snapToGrid="0">
      <p:cViewPr varScale="1">
        <p:scale>
          <a:sx n="100" d="100"/>
          <a:sy n="100" d="100"/>
        </p:scale>
        <p:origin x="898" y="67"/>
      </p:cViewPr>
      <p:guideLst>
        <p:guide orient="horz" pos="1620"/>
        <p:guide pos="2880"/>
      </p:guideLst>
    </p:cSldViewPr>
  </p:slideViewPr>
  <p:outlineViewPr>
    <p:cViewPr>
      <p:scale>
        <a:sx n="70" d="100"/>
        <a:sy n="70" d="100"/>
      </p:scale>
      <p:origin x="-80" y="-50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92"/>
    </p:cViewPr>
  </p:sorterViewPr>
  <p:notesViewPr>
    <p:cSldViewPr snapToGrid="0" showGuides="1">
      <p:cViewPr>
        <p:scale>
          <a:sx n="109" d="100"/>
          <a:sy n="109" d="100"/>
        </p:scale>
        <p:origin x="3666" y="45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2/4/2025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List item</a:t>
            </a:r>
          </a:p>
          <a:p>
            <a:pPr lvl="1"/>
            <a:r>
              <a:rPr lang="en-US" dirty="0"/>
              <a:t>List item</a:t>
            </a:r>
          </a:p>
          <a:p>
            <a:pPr lvl="2"/>
            <a:r>
              <a:rPr lang="en-US" dirty="0"/>
              <a:t>List item</a:t>
            </a:r>
          </a:p>
          <a:p>
            <a:pPr lvl="3"/>
            <a:r>
              <a:rPr lang="en-US" dirty="0"/>
              <a:t>List item</a:t>
            </a:r>
          </a:p>
          <a:p>
            <a:pPr lvl="4"/>
            <a:r>
              <a:rPr lang="en-US" dirty="0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 dirty="0"/>
              <a:t>Type your headline here </a:t>
            </a:r>
            <a:br>
              <a:rPr lang="en-US" dirty="0"/>
            </a:br>
            <a:r>
              <a:rPr lang="en-US" dirty="0"/>
              <a:t>(ex: Agenda)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Meeting/Event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White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Light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White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Light blue divider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227EF0-9C60-2003-D6BA-C8BAF06217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Type your slide headline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02C94-33CD-D1CE-02FF-FB1D35E386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4294F-C888-C3A2-8CE8-5035923821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DD03E-C5E4-5B3B-E1A6-63B08082597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0FD810-861C-8EF2-52CF-99FFEAD5A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0062" y="1211263"/>
            <a:ext cx="2667475" cy="2215744"/>
          </a:xfrm>
        </p:spPr>
        <p:txBody>
          <a:bodyPr/>
          <a:lstStyle/>
          <a:p>
            <a:pPr marL="0" indent="0" algn="ctr">
              <a:buNone/>
            </a:pPr>
            <a:r>
              <a:rPr lang="en-US" sz="1200" b="1" dirty="0"/>
              <a:t>From</a:t>
            </a:r>
            <a:r>
              <a:rPr lang="en-US" sz="1200" dirty="0"/>
              <a:t> </a:t>
            </a:r>
          </a:p>
          <a:p>
            <a:r>
              <a:rPr lang="en-US" sz="1050" dirty="0"/>
              <a:t>NOK check (Regulatory / Quality block) executed </a:t>
            </a:r>
            <a:r>
              <a:rPr lang="en-US" sz="1050" b="1" dirty="0"/>
              <a:t>only at Order release </a:t>
            </a:r>
            <a:r>
              <a:rPr lang="en-US" sz="1050" dirty="0"/>
              <a:t>and </a:t>
            </a:r>
            <a:r>
              <a:rPr lang="en-US" sz="1050" b="1" dirty="0"/>
              <a:t>at Delivery</a:t>
            </a:r>
          </a:p>
          <a:p>
            <a:r>
              <a:rPr lang="en-US" sz="1050" dirty="0"/>
              <a:t>In case of NOK, </a:t>
            </a:r>
            <a:r>
              <a:rPr lang="en-US" sz="1050" b="1" dirty="0"/>
              <a:t>system leading to block </a:t>
            </a:r>
            <a:r>
              <a:rPr lang="en-US" sz="1050" dirty="0"/>
              <a:t>in </a:t>
            </a:r>
            <a:r>
              <a:rPr lang="en-US" sz="1050" b="1" dirty="0"/>
              <a:t>factory and/or warehouse </a:t>
            </a:r>
            <a:r>
              <a:rPr lang="en-US" sz="1050" dirty="0"/>
              <a:t>if not resolved on time</a:t>
            </a:r>
          </a:p>
          <a:p>
            <a:r>
              <a:rPr lang="en-US" sz="1050" b="1" dirty="0"/>
              <a:t>Process not fully deployed </a:t>
            </a:r>
            <a:r>
              <a:rPr lang="en-US" sz="1050" dirty="0"/>
              <a:t>in Pune and Suzhou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F7F283-C47B-3C2A-4CB4-512C4942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NOK check process related to regulatory or quality blocks, leading to significantly less disruption in IGT-S Supply Chain 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51C822C-DBEB-4B9F-DC78-851CEFF0303F}"/>
              </a:ext>
            </a:extLst>
          </p:cNvPr>
          <p:cNvSpPr txBox="1">
            <a:spLocks/>
          </p:cNvSpPr>
          <p:nvPr/>
        </p:nvSpPr>
        <p:spPr>
          <a:xfrm>
            <a:off x="3395662" y="1211263"/>
            <a:ext cx="2715578" cy="228631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200" b="1" dirty="0"/>
              <a:t>To</a:t>
            </a:r>
            <a:r>
              <a:rPr lang="en-US" sz="1200" dirty="0"/>
              <a:t> </a:t>
            </a:r>
          </a:p>
          <a:p>
            <a:r>
              <a:rPr lang="en-US" sz="1050" dirty="0"/>
              <a:t>NOK check executed </a:t>
            </a:r>
            <a:r>
              <a:rPr lang="en-US" sz="1050" b="1" dirty="0"/>
              <a:t>3 weeks prior </a:t>
            </a:r>
            <a:r>
              <a:rPr lang="en-US" sz="1050" dirty="0"/>
              <a:t>to Order release, at </a:t>
            </a:r>
            <a:r>
              <a:rPr lang="en-US" sz="1050" b="1" dirty="0"/>
              <a:t>Order Release </a:t>
            </a:r>
            <a:r>
              <a:rPr lang="en-US" sz="1050" dirty="0"/>
              <a:t>and at </a:t>
            </a:r>
            <a:r>
              <a:rPr lang="en-US" sz="1050" b="1" dirty="0"/>
              <a:t>Delivery</a:t>
            </a:r>
          </a:p>
          <a:p>
            <a:r>
              <a:rPr lang="en-US" sz="1050" dirty="0"/>
              <a:t>In case of </a:t>
            </a:r>
            <a:r>
              <a:rPr lang="en-US" sz="1050" b="1" dirty="0"/>
              <a:t>NOK</a:t>
            </a:r>
            <a:r>
              <a:rPr lang="en-US" sz="1050" dirty="0"/>
              <a:t>, production order </a:t>
            </a:r>
            <a:r>
              <a:rPr lang="en-US" sz="1050" b="1" dirty="0"/>
              <a:t>not released</a:t>
            </a:r>
          </a:p>
          <a:p>
            <a:r>
              <a:rPr lang="en-US" sz="1050" b="1" dirty="0"/>
              <a:t>Harmonized process </a:t>
            </a:r>
            <a:r>
              <a:rPr lang="en-US" sz="1050" dirty="0"/>
              <a:t>within IGT-S across Best / Pune / Suzhou</a:t>
            </a:r>
          </a:p>
          <a:p>
            <a:r>
              <a:rPr lang="en-US" sz="1050" b="1" dirty="0"/>
              <a:t>Improved monitoring and accountability </a:t>
            </a:r>
            <a:r>
              <a:rPr lang="en-US" sz="1050" dirty="0"/>
              <a:t>in cross functional team (Supply Chain, Quality and Regulatory), both for Fixed Systems, Mobile systems and Field Extensions/Upgrades</a:t>
            </a:r>
            <a:endParaRPr lang="en-US" sz="1100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C46477B-9708-8EB5-4A04-110311C0A64F}"/>
              </a:ext>
            </a:extLst>
          </p:cNvPr>
          <p:cNvSpPr txBox="1">
            <a:spLocks/>
          </p:cNvSpPr>
          <p:nvPr/>
        </p:nvSpPr>
        <p:spPr>
          <a:xfrm>
            <a:off x="6375082" y="1211263"/>
            <a:ext cx="2715578" cy="2448294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100" b="1" dirty="0"/>
              <a:t>Result</a:t>
            </a:r>
            <a:endParaRPr lang="en-US" sz="1100" dirty="0"/>
          </a:p>
          <a:p>
            <a:r>
              <a:rPr lang="en-US" sz="1100" b="1" dirty="0">
                <a:solidFill>
                  <a:schemeClr val="tx2"/>
                </a:solidFill>
              </a:rPr>
              <a:t>Proactive check </a:t>
            </a:r>
            <a:r>
              <a:rPr lang="en-US" sz="1100" dirty="0"/>
              <a:t>allows </a:t>
            </a:r>
            <a:r>
              <a:rPr lang="en-US" sz="1100" b="1" dirty="0">
                <a:solidFill>
                  <a:schemeClr val="tx2"/>
                </a:solidFill>
              </a:rPr>
              <a:t>time to solve </a:t>
            </a:r>
            <a:r>
              <a:rPr lang="en-US" sz="1100" dirty="0"/>
              <a:t>issue prior to release </a:t>
            </a:r>
          </a:p>
          <a:p>
            <a:r>
              <a:rPr lang="en-US" sz="1100" b="1" dirty="0"/>
              <a:t>Best: </a:t>
            </a:r>
            <a:r>
              <a:rPr lang="en-US" sz="1100" dirty="0"/>
              <a:t>In 2024 </a:t>
            </a:r>
            <a:r>
              <a:rPr lang="en-US" sz="1100" b="1" dirty="0">
                <a:solidFill>
                  <a:schemeClr val="accent2"/>
                </a:solidFill>
              </a:rPr>
              <a:t>93% decrease in stops </a:t>
            </a:r>
            <a:r>
              <a:rPr lang="en-US" sz="1100" dirty="0"/>
              <a:t>(418 </a:t>
            </a:r>
            <a:r>
              <a:rPr lang="en-US" sz="1100" dirty="0">
                <a:sym typeface="Wingdings" panose="05000000000000000000" pitchFamily="2" charset="2"/>
              </a:rPr>
              <a:t> 27)</a:t>
            </a:r>
            <a:r>
              <a:rPr lang="en-US" sz="1100" dirty="0"/>
              <a:t> and </a:t>
            </a:r>
            <a:r>
              <a:rPr lang="en-US" sz="1100" b="1" dirty="0">
                <a:solidFill>
                  <a:schemeClr val="accent2"/>
                </a:solidFill>
              </a:rPr>
              <a:t>93% decrease in waiting time </a:t>
            </a:r>
            <a:r>
              <a:rPr lang="en-US" sz="1100" dirty="0"/>
              <a:t>(13.1k </a:t>
            </a:r>
            <a:r>
              <a:rPr lang="en-US" sz="1100" dirty="0">
                <a:sym typeface="Wingdings" panose="05000000000000000000" pitchFamily="2" charset="2"/>
              </a:rPr>
              <a:t> 563 hours) compared to 2023</a:t>
            </a:r>
            <a:endParaRPr lang="en-US" sz="1100" dirty="0"/>
          </a:p>
          <a:p>
            <a:r>
              <a:rPr lang="en-US" sz="1100" b="1" dirty="0">
                <a:solidFill>
                  <a:schemeClr val="tx2"/>
                </a:solidFill>
              </a:rPr>
              <a:t>Improved on time shipment </a:t>
            </a:r>
            <a:r>
              <a:rPr lang="en-US" sz="1100" dirty="0"/>
              <a:t>towards customers</a:t>
            </a:r>
          </a:p>
          <a:p>
            <a:r>
              <a:rPr lang="en-US" sz="1100" b="1" dirty="0">
                <a:solidFill>
                  <a:schemeClr val="tx2"/>
                </a:solidFill>
              </a:rPr>
              <a:t>Ensure compliance: </a:t>
            </a:r>
            <a:r>
              <a:rPr lang="en-US" sz="1100" dirty="0"/>
              <a:t>no shipment of systems with a quality or regulatory block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C4C580-CBA5-2254-758F-E883BA0261D5}"/>
              </a:ext>
            </a:extLst>
          </p:cNvPr>
          <p:cNvCxnSpPr>
            <a:cxnSpLocks/>
          </p:cNvCxnSpPr>
          <p:nvPr/>
        </p:nvCxnSpPr>
        <p:spPr>
          <a:xfrm>
            <a:off x="500062" y="1426991"/>
            <a:ext cx="25326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10CFB1-EC09-2701-5857-743BFC58CAD1}"/>
              </a:ext>
            </a:extLst>
          </p:cNvPr>
          <p:cNvCxnSpPr>
            <a:cxnSpLocks/>
          </p:cNvCxnSpPr>
          <p:nvPr/>
        </p:nvCxnSpPr>
        <p:spPr>
          <a:xfrm>
            <a:off x="3395662" y="1426991"/>
            <a:ext cx="25326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F9F1F9-A40E-4960-2136-AF1B3BC053AB}"/>
              </a:ext>
            </a:extLst>
          </p:cNvPr>
          <p:cNvCxnSpPr>
            <a:cxnSpLocks/>
          </p:cNvCxnSpPr>
          <p:nvPr/>
        </p:nvCxnSpPr>
        <p:spPr>
          <a:xfrm>
            <a:off x="6375082" y="1426991"/>
            <a:ext cx="25326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97E17903-1487-34EC-F4AD-CA32918E3A23}"/>
              </a:ext>
            </a:extLst>
          </p:cNvPr>
          <p:cNvSpPr/>
          <p:nvPr/>
        </p:nvSpPr>
        <p:spPr>
          <a:xfrm rot="5400000">
            <a:off x="2777967" y="2002158"/>
            <a:ext cx="1028700" cy="110485"/>
          </a:xfrm>
          <a:prstGeom prst="triangle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01B3F8C-09CF-0967-16FD-B961B129B7BF}"/>
              </a:ext>
            </a:extLst>
          </p:cNvPr>
          <p:cNvSpPr/>
          <p:nvPr/>
        </p:nvSpPr>
        <p:spPr>
          <a:xfrm rot="5400000">
            <a:off x="5721670" y="2002158"/>
            <a:ext cx="1028700" cy="110485"/>
          </a:xfrm>
          <a:prstGeom prst="triangle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3D98A6-35B1-BACA-4C15-BED00BE5ABD2}"/>
              </a:ext>
            </a:extLst>
          </p:cNvPr>
          <p:cNvCxnSpPr>
            <a:cxnSpLocks/>
          </p:cNvCxnSpPr>
          <p:nvPr/>
        </p:nvCxnSpPr>
        <p:spPr>
          <a:xfrm>
            <a:off x="1755509" y="4006361"/>
            <a:ext cx="5610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84C8AD1-130B-A6CC-2BE3-4BA069B29A04}"/>
              </a:ext>
            </a:extLst>
          </p:cNvPr>
          <p:cNvSpPr txBox="1"/>
          <p:nvPr/>
        </p:nvSpPr>
        <p:spPr>
          <a:xfrm>
            <a:off x="1728027" y="3647165"/>
            <a:ext cx="872964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From</a:t>
            </a:r>
            <a:endParaRPr lang="en-N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D0FEA8-3B6C-CF75-6E31-B1410EFFFD2B}"/>
              </a:ext>
            </a:extLst>
          </p:cNvPr>
          <p:cNvSpPr txBox="1"/>
          <p:nvPr/>
        </p:nvSpPr>
        <p:spPr>
          <a:xfrm>
            <a:off x="1728027" y="4073986"/>
            <a:ext cx="872964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To</a:t>
            </a:r>
            <a:endParaRPr lang="en-NL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2E1586-8D15-76A3-9300-1D38E3C0F2F9}"/>
              </a:ext>
            </a:extLst>
          </p:cNvPr>
          <p:cNvCxnSpPr>
            <a:cxnSpLocks/>
          </p:cNvCxnSpPr>
          <p:nvPr/>
        </p:nvCxnSpPr>
        <p:spPr>
          <a:xfrm flipV="1">
            <a:off x="3141169" y="3856832"/>
            <a:ext cx="0" cy="271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A9589DD3-09B5-AF78-9D3A-7964C5B266A6}"/>
              </a:ext>
            </a:extLst>
          </p:cNvPr>
          <p:cNvSpPr txBox="1">
            <a:spLocks/>
          </p:cNvSpPr>
          <p:nvPr/>
        </p:nvSpPr>
        <p:spPr>
          <a:xfrm>
            <a:off x="2641996" y="3283039"/>
            <a:ext cx="994887" cy="195181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200" b="1" dirty="0"/>
              <a:t>Pre-check</a:t>
            </a:r>
            <a:endParaRPr lang="en-US" sz="1200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9B73E02-F088-407C-EEDC-998BC9CCA1A9}"/>
              </a:ext>
            </a:extLst>
          </p:cNvPr>
          <p:cNvSpPr txBox="1">
            <a:spLocks/>
          </p:cNvSpPr>
          <p:nvPr/>
        </p:nvSpPr>
        <p:spPr>
          <a:xfrm>
            <a:off x="4256007" y="3283039"/>
            <a:ext cx="994887" cy="195181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200" b="1" dirty="0"/>
              <a:t>Order release</a:t>
            </a:r>
            <a:endParaRPr lang="en-US" sz="12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B5F1382-2E4F-B5AD-DB5C-080198D9F221}"/>
              </a:ext>
            </a:extLst>
          </p:cNvPr>
          <p:cNvCxnSpPr>
            <a:cxnSpLocks/>
          </p:cNvCxnSpPr>
          <p:nvPr/>
        </p:nvCxnSpPr>
        <p:spPr>
          <a:xfrm flipV="1">
            <a:off x="4813990" y="3820693"/>
            <a:ext cx="0" cy="307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3837F1CD-EB04-6D0D-12B0-999611C4AA8C}"/>
              </a:ext>
            </a:extLst>
          </p:cNvPr>
          <p:cNvSpPr txBox="1">
            <a:spLocks/>
          </p:cNvSpPr>
          <p:nvPr/>
        </p:nvSpPr>
        <p:spPr>
          <a:xfrm>
            <a:off x="5831919" y="3283039"/>
            <a:ext cx="994887" cy="195181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200" b="1" dirty="0"/>
              <a:t>Delivery</a:t>
            </a:r>
            <a:endParaRPr lang="en-US" sz="12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FF987-8289-9775-2CAF-992A1A7F3901}"/>
              </a:ext>
            </a:extLst>
          </p:cNvPr>
          <p:cNvCxnSpPr>
            <a:cxnSpLocks/>
          </p:cNvCxnSpPr>
          <p:nvPr/>
        </p:nvCxnSpPr>
        <p:spPr>
          <a:xfrm flipV="1">
            <a:off x="6328414" y="3856832"/>
            <a:ext cx="0" cy="271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7E1D80FA-12C6-7A56-E772-4C19734D3635}"/>
              </a:ext>
            </a:extLst>
          </p:cNvPr>
          <p:cNvSpPr txBox="1">
            <a:spLocks/>
          </p:cNvSpPr>
          <p:nvPr/>
        </p:nvSpPr>
        <p:spPr>
          <a:xfrm>
            <a:off x="609599" y="3883061"/>
            <a:ext cx="994887" cy="195181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200" b="1" dirty="0"/>
              <a:t>NOK Check</a:t>
            </a:r>
            <a:endParaRPr lang="en-US" sz="1200" dirty="0"/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FB9B450B-D425-EAFD-19DE-7BF45A60D419}"/>
              </a:ext>
            </a:extLst>
          </p:cNvPr>
          <p:cNvSpPr txBox="1">
            <a:spLocks/>
          </p:cNvSpPr>
          <p:nvPr/>
        </p:nvSpPr>
        <p:spPr>
          <a:xfrm>
            <a:off x="3299567" y="4088573"/>
            <a:ext cx="1309903" cy="278602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200" i="1" dirty="0"/>
              <a:t>3 weeks</a:t>
            </a:r>
            <a:endParaRPr lang="en-US" sz="1100" i="1" dirty="0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48047827-5D01-7DE5-CD4D-D2680572366D}"/>
              </a:ext>
            </a:extLst>
          </p:cNvPr>
          <p:cNvSpPr txBox="1">
            <a:spLocks/>
          </p:cNvSpPr>
          <p:nvPr/>
        </p:nvSpPr>
        <p:spPr>
          <a:xfrm>
            <a:off x="4911115" y="3717531"/>
            <a:ext cx="1309903" cy="278602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200" b="1" dirty="0">
                <a:solidFill>
                  <a:srgbClr val="FF0000"/>
                </a:solidFill>
              </a:rPr>
              <a:t>Disruption</a:t>
            </a:r>
            <a:endParaRPr lang="en-US" sz="1100" dirty="0">
              <a:solidFill>
                <a:srgbClr val="FF0000"/>
              </a:solidFill>
            </a:endParaRPr>
          </a:p>
        </p:txBody>
      </p:sp>
      <p:pic>
        <p:nvPicPr>
          <p:cNvPr id="43" name="Graphic 42" descr="Lightning bolt with solid fill">
            <a:extLst>
              <a:ext uri="{FF2B5EF4-FFF2-40B4-BE49-F238E27FC236}">
                <a16:creationId xmlns:a16="http://schemas.microsoft.com/office/drawing/2014/main" id="{903E4903-5121-EBE2-FFC7-9F91839608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51542" y="3389211"/>
            <a:ext cx="353178" cy="353178"/>
          </a:xfrm>
          <a:prstGeom prst="rect">
            <a:avLst/>
          </a:prstGeom>
        </p:spPr>
      </p:pic>
      <p:pic>
        <p:nvPicPr>
          <p:cNvPr id="48" name="Graphic 47" descr="Badge Tick1 with solid fill">
            <a:extLst>
              <a:ext uri="{FF2B5EF4-FFF2-40B4-BE49-F238E27FC236}">
                <a16:creationId xmlns:a16="http://schemas.microsoft.com/office/drawing/2014/main" id="{EEBC75B8-EF5F-9A83-0A8C-B734BCE049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5544" y="4056690"/>
            <a:ext cx="476893" cy="476893"/>
          </a:xfrm>
          <a:prstGeom prst="rect">
            <a:avLst/>
          </a:prstGeom>
        </p:spPr>
      </p:pic>
      <p:pic>
        <p:nvPicPr>
          <p:cNvPr id="51" name="Graphic 50" descr="Badge Tick1 with solid fill">
            <a:extLst>
              <a:ext uri="{FF2B5EF4-FFF2-40B4-BE49-F238E27FC236}">
                <a16:creationId xmlns:a16="http://schemas.microsoft.com/office/drawing/2014/main" id="{2FF825D9-5CAE-A63C-8EB4-51E249D7D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02723" y="4056690"/>
            <a:ext cx="476893" cy="476893"/>
          </a:xfrm>
          <a:prstGeom prst="rect">
            <a:avLst/>
          </a:prstGeom>
        </p:spPr>
      </p:pic>
      <p:pic>
        <p:nvPicPr>
          <p:cNvPr id="53" name="Graphic 52" descr="Badge Tick1 with solid fill">
            <a:extLst>
              <a:ext uri="{FF2B5EF4-FFF2-40B4-BE49-F238E27FC236}">
                <a16:creationId xmlns:a16="http://schemas.microsoft.com/office/drawing/2014/main" id="{66E4B1F6-9F8E-C1C5-5976-63E0D7578B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89968" y="4056690"/>
            <a:ext cx="476893" cy="476893"/>
          </a:xfrm>
          <a:prstGeom prst="rect">
            <a:avLst/>
          </a:prstGeom>
        </p:spPr>
      </p:pic>
      <p:pic>
        <p:nvPicPr>
          <p:cNvPr id="57" name="Graphic 56" descr="Badge Tick1 with solid fill">
            <a:extLst>
              <a:ext uri="{FF2B5EF4-FFF2-40B4-BE49-F238E27FC236}">
                <a16:creationId xmlns:a16="http://schemas.microsoft.com/office/drawing/2014/main" id="{8C2B3DD7-86E3-0C2D-CED2-87181419EB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89968" y="3491793"/>
            <a:ext cx="476893" cy="476893"/>
          </a:xfrm>
          <a:prstGeom prst="rect">
            <a:avLst/>
          </a:prstGeom>
        </p:spPr>
      </p:pic>
      <p:pic>
        <p:nvPicPr>
          <p:cNvPr id="59" name="Graphic 58" descr="Badge Tick1 with solid fill">
            <a:extLst>
              <a:ext uri="{FF2B5EF4-FFF2-40B4-BE49-F238E27FC236}">
                <a16:creationId xmlns:a16="http://schemas.microsoft.com/office/drawing/2014/main" id="{46BAEDAA-B068-67B1-DC85-6BECE46214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5544" y="3491793"/>
            <a:ext cx="476893" cy="476893"/>
          </a:xfrm>
          <a:prstGeom prst="rect">
            <a:avLst/>
          </a:prstGeom>
        </p:spPr>
      </p:pic>
      <p:pic>
        <p:nvPicPr>
          <p:cNvPr id="62" name="Graphic 61" descr="Badge Cross with solid fill">
            <a:extLst>
              <a:ext uri="{FF2B5EF4-FFF2-40B4-BE49-F238E27FC236}">
                <a16:creationId xmlns:a16="http://schemas.microsoft.com/office/drawing/2014/main" id="{FE66C864-44C2-34B4-E701-78A0844BFF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02723" y="3491793"/>
            <a:ext cx="476893" cy="476893"/>
          </a:xfrm>
          <a:prstGeom prst="rect">
            <a:avLst/>
          </a:prstGeom>
        </p:spPr>
      </p:pic>
      <p:sp>
        <p:nvSpPr>
          <p:cNvPr id="65" name="Speech Bubble: Rectangle 64">
            <a:extLst>
              <a:ext uri="{FF2B5EF4-FFF2-40B4-BE49-F238E27FC236}">
                <a16:creationId xmlns:a16="http://schemas.microsoft.com/office/drawing/2014/main" id="{29E4C255-FC84-2DAE-6F3B-90FB88D4D4C6}"/>
              </a:ext>
            </a:extLst>
          </p:cNvPr>
          <p:cNvSpPr/>
          <p:nvPr/>
        </p:nvSpPr>
        <p:spPr>
          <a:xfrm>
            <a:off x="3636883" y="4677977"/>
            <a:ext cx="733549" cy="379357"/>
          </a:xfrm>
          <a:prstGeom prst="wedgeRectCallout">
            <a:avLst>
              <a:gd name="adj1" fmla="val -4023"/>
              <a:gd name="adj2" fmla="val -83576"/>
            </a:avLst>
          </a:prstGeo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en-US" sz="1000" dirty="0">
                <a:solidFill>
                  <a:schemeClr val="tx2"/>
                </a:solidFill>
              </a:rPr>
              <a:t>Time to solve issues</a:t>
            </a:r>
            <a:endParaRPr lang="en-NL" sz="1000" dirty="0" err="1">
              <a:solidFill>
                <a:schemeClr val="tx2"/>
              </a:solidFill>
            </a:endParaRPr>
          </a:p>
        </p:txBody>
      </p:sp>
      <p:sp>
        <p:nvSpPr>
          <p:cNvPr id="66" name="Speech Bubble: Rectangle 65">
            <a:extLst>
              <a:ext uri="{FF2B5EF4-FFF2-40B4-BE49-F238E27FC236}">
                <a16:creationId xmlns:a16="http://schemas.microsoft.com/office/drawing/2014/main" id="{896BC2FA-91DB-4040-B2DF-C031D009924E}"/>
              </a:ext>
            </a:extLst>
          </p:cNvPr>
          <p:cNvSpPr/>
          <p:nvPr/>
        </p:nvSpPr>
        <p:spPr>
          <a:xfrm>
            <a:off x="4609385" y="4677977"/>
            <a:ext cx="904305" cy="379357"/>
          </a:xfrm>
          <a:prstGeom prst="wedgeRectCallout">
            <a:avLst>
              <a:gd name="adj1" fmla="val -25837"/>
              <a:gd name="adj2" fmla="val -83576"/>
            </a:avLst>
          </a:prstGeo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en-US" sz="1000" dirty="0">
                <a:solidFill>
                  <a:schemeClr val="tx2"/>
                </a:solidFill>
              </a:rPr>
              <a:t>No release of orders with block</a:t>
            </a:r>
            <a:endParaRPr lang="en-NL" sz="1000" dirty="0" err="1">
              <a:solidFill>
                <a:schemeClr val="tx2"/>
              </a:solidFill>
            </a:endParaRPr>
          </a:p>
        </p:txBody>
      </p:sp>
      <p:sp>
        <p:nvSpPr>
          <p:cNvPr id="67" name="Right Brace 66">
            <a:extLst>
              <a:ext uri="{FF2B5EF4-FFF2-40B4-BE49-F238E27FC236}">
                <a16:creationId xmlns:a16="http://schemas.microsoft.com/office/drawing/2014/main" id="{1C31E8E2-19EF-58A5-BFFA-63A6CCB797C1}"/>
              </a:ext>
            </a:extLst>
          </p:cNvPr>
          <p:cNvSpPr/>
          <p:nvPr/>
        </p:nvSpPr>
        <p:spPr>
          <a:xfrm rot="5400000">
            <a:off x="3866398" y="3839397"/>
            <a:ext cx="203200" cy="110251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584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0" tIns="0" rIns="0" bIns="0" rtlCol="0" anchor="ctr"/>
      <a:lstStyle>
        <a:defPPr algn="ctr">
          <a:spcAft>
            <a:spcPts val="600"/>
          </a:spcAft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0" tIns="0" rIns="0" bIns="0" rtlCol="0">
        <a:no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TemplateConfiguration><![CDATA[{"elementsMetadata":[],"transformationConfigurations":[],"templateName":"Philips Master Template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SlideTemplateConfiguration><![CDATA[{"slideVersion":1,"isValidatorEnabled":false,"isLocked":false,"elementsMetadata":[],"slideId":"1044688741783830532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BFBCB3F7-860C-40CC-8532-A042390E68D6}">
  <ds:schemaRefs/>
</ds:datastoreItem>
</file>

<file path=customXml/itemProps2.xml><?xml version="1.0" encoding="utf-8"?>
<ds:datastoreItem xmlns:ds="http://schemas.openxmlformats.org/officeDocument/2006/customXml" ds:itemID="{758FF650-907C-428F-AD7B-6BA9D849A6CB}">
  <ds:schemaRefs/>
</ds:datastoreItem>
</file>

<file path=customXml/itemProps3.xml><?xml version="1.0" encoding="utf-8"?>
<ds:datastoreItem xmlns:ds="http://schemas.openxmlformats.org/officeDocument/2006/customXml" ds:itemID="{B2E38FC4-1533-4A92-B582-8C6E853F1307}">
  <ds:schemaRefs/>
</ds:datastoreItem>
</file>

<file path=customXml/itemProps4.xml><?xml version="1.0" encoding="utf-8"?>
<ds:datastoreItem xmlns:ds="http://schemas.openxmlformats.org/officeDocument/2006/customXml" ds:itemID="{6BF8525C-62B9-4321-91B7-FFEFD4A5025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212</Words>
  <Application>Microsoft Office PowerPoint</Application>
  <PresentationFormat>On-screen Show (16:9)</PresentationFormat>
  <Paragraphs>27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Wingdings</vt:lpstr>
      <vt:lpstr>Slide Master Only: November 2024</vt:lpstr>
      <vt:lpstr>think-cell Slide</vt:lpstr>
      <vt:lpstr>Improved NOK check process related to regulatory or quality blocks, leading to significantly less disruption in IGT-S Supply Chain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/>
  <cp:keywords/>
  <dc:description/>
  <cp:lastModifiedBy/>
  <cp:revision>1</cp:revision>
  <dcterms:created xsi:type="dcterms:W3CDTF">2024-12-02T08:19:17Z</dcterms:created>
  <dcterms:modified xsi:type="dcterms:W3CDTF">2025-02-03T23:23:20Z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2024-11-08T14:42:56</vt:lpwstr>
  </property>
  <property fmtid="{D5CDD505-2E9C-101B-9397-08002B2CF9AE}" pid="3" name="TemplafyTenantId">
    <vt:lpwstr>philips</vt:lpwstr>
  </property>
  <property fmtid="{D5CDD505-2E9C-101B-9397-08002B2CF9AE}" pid="4" name="TemplafyTemplateId">
    <vt:lpwstr>1044688733234529158</vt:lpwstr>
  </property>
  <property fmtid="{D5CDD505-2E9C-101B-9397-08002B2CF9AE}" pid="5" name="TemplafyUserProfileId">
    <vt:lpwstr>637665543884380572</vt:lpwstr>
  </property>
  <property fmtid="{D5CDD505-2E9C-101B-9397-08002B2CF9AE}" pid="6" name="TemplafyFromBlank">
    <vt:bool>true</vt:bool>
  </property>
</Properties>
</file>